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af67ecfbba243a2" /><Relationship Type="http://schemas.openxmlformats.org/officeDocument/2006/relationships/extended-properties" Target="/docProps/app.xml" Id="R2f710d38c9e54b87" /><Relationship Type="http://schemas.openxmlformats.org/officeDocument/2006/relationships/officeDocument" Target="/ppt/presentation.xml" Id="R6c4f0293f02046c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2d03fad85274fee"/>
  </p:sldMasterIdLst>
  <p:notesMasterIdLst>
    <p:notesMasterId xmlns:r="http://schemas.openxmlformats.org/officeDocument/2006/relationships" r:id="Reb55fa14a2764130"/>
  </p:notesMasterIdLst>
  <p:sldIdLst>
    <p:sldId xmlns:r="http://schemas.openxmlformats.org/officeDocument/2006/relationships" id="256" r:id="Ree361ccd52e74453"/>
    <p:sldId xmlns:r="http://schemas.openxmlformats.org/officeDocument/2006/relationships" id="257" r:id="R3616aadce41848e6"/>
    <p:sldId xmlns:r="http://schemas.openxmlformats.org/officeDocument/2006/relationships" id="258" r:id="R09cb47168c7b4302"/>
    <p:sldId xmlns:r="http://schemas.openxmlformats.org/officeDocument/2006/relationships" id="259" r:id="Rac8eba37b892440c"/>
    <p:sldId xmlns:r="http://schemas.openxmlformats.org/officeDocument/2006/relationships" id="260" r:id="R0e1f3743162840aa"/>
    <p:sldId xmlns:r="http://schemas.openxmlformats.org/officeDocument/2006/relationships" id="261" r:id="R979a446f71e946c6"/>
    <p:sldId xmlns:r="http://schemas.openxmlformats.org/officeDocument/2006/relationships" id="262" r:id="R7caa3155d3c3418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af4dc75fd334491" /><Relationship Type="http://schemas.openxmlformats.org/officeDocument/2006/relationships/slideMaster" Target="/ppt/slideMasters/slideMaster1.xml" Id="R22d03fad85274fee" /><Relationship Type="http://schemas.openxmlformats.org/officeDocument/2006/relationships/notesMaster" Target="/ppt/notesMasters/notesMaster1.xml" Id="Reb55fa14a2764130" /><Relationship Type="http://schemas.openxmlformats.org/officeDocument/2006/relationships/presProps" Target="/ppt/presProps.xml" Id="R17f317ff462a4a58" /><Relationship Type="http://schemas.openxmlformats.org/officeDocument/2006/relationships/tableStyles" Target="/ppt/tableStyles.xml" Id="R22ac9bb800b64430" /><Relationship Type="http://schemas.openxmlformats.org/officeDocument/2006/relationships/slide" Target="/ppt/slides/slide1.xml" Id="Ree361ccd52e74453" /><Relationship Type="http://schemas.openxmlformats.org/officeDocument/2006/relationships/slide" Target="/ppt/slides/slide2.xml" Id="R3616aadce41848e6" /><Relationship Type="http://schemas.openxmlformats.org/officeDocument/2006/relationships/slide" Target="/ppt/slides/slide3.xml" Id="R09cb47168c7b4302" /><Relationship Type="http://schemas.openxmlformats.org/officeDocument/2006/relationships/slide" Target="/ppt/slides/slide4.xml" Id="Rac8eba37b892440c" /><Relationship Type="http://schemas.openxmlformats.org/officeDocument/2006/relationships/slide" Target="/ppt/slides/slide5.xml" Id="R0e1f3743162840aa" /><Relationship Type="http://schemas.openxmlformats.org/officeDocument/2006/relationships/slide" Target="/ppt/slides/slide6.xml" Id="R979a446f71e946c6" /><Relationship Type="http://schemas.openxmlformats.org/officeDocument/2006/relationships/slide" Target="/ppt/slides/slide7.xml" Id="R7caa3155d3c3418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5d75b5e5c5e482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c725d6bda0c48b2" /><Relationship Type="http://schemas.openxmlformats.org/officeDocument/2006/relationships/notesMaster" Target="/ppt/notesMasters/notesMaster1.xml" Id="Rdda6f7260a28462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a34e89da3a6401d" /><Relationship Type="http://schemas.openxmlformats.org/officeDocument/2006/relationships/notesMaster" Target="/ppt/notesMasters/notesMaster1.xml" Id="R09e57cfcc0c24e8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5132502ba114e42" /><Relationship Type="http://schemas.openxmlformats.org/officeDocument/2006/relationships/notesMaster" Target="/ppt/notesMasters/notesMaster1.xml" Id="R82a73ebc7cac47b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ad642487c5a426f" /><Relationship Type="http://schemas.openxmlformats.org/officeDocument/2006/relationships/notesMaster" Target="/ppt/notesMasters/notesMaster1.xml" Id="R4c9e7ddfe6fa4ec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3a7a8a0befa42cd" /><Relationship Type="http://schemas.openxmlformats.org/officeDocument/2006/relationships/notesMaster" Target="/ppt/notesMasters/notesMaster1.xml" Id="R943051727b4c4f5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339c30034b54894" /><Relationship Type="http://schemas.openxmlformats.org/officeDocument/2006/relationships/notesMaster" Target="/ppt/notesMasters/notesMaster1.xml" Id="Rd79bd8f90240477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faa53fa303949af" /><Relationship Type="http://schemas.openxmlformats.org/officeDocument/2006/relationships/notesMaster" Target="/ppt/notesMasters/notesMaster1.xml" Id="R0bf2d8a097da4f7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proposal evolves the participant’s existing research direction on a Cultural Hallucination Benchmark for Dravidian languages. Implementation and evaluation are planned.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Prior work includes BHRAM-IL: https://aclanthology.org/2025.bhasha-1.9/ . Differentiation refers to the proposed application design, not a claim of first-ever multilingual hallucination detection.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Proposed architecture. Unicode Script and Script_Extensions: https://unicode.org/reports/tr24/ . The evidence pack supports claim verification and context checks. Similarity screens for drift but does not establish entailment. All user inference is intended to remain local after setup.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Qualcomm Qwen recipe: https://github.com/qualcomm/ai-hub-models/blob/v0.63.0/src/qai_hub_models/models/qwen3_4b_instruct_2507/README.md</a:t>
            </a:r>
          </a:p>
          <a:p xmlns:a="http://schemas.openxmlformats.org/drawingml/2006/main">
            <a:r>
              <a:t>GenieX: https://geniex.aihub.qualcomm.com/en/get-started/what-is-geniex</a:t>
            </a:r>
          </a:p>
          <a:p xmlns:a="http://schemas.openxmlformats.org/drawingml/2006/main">
            <a:r>
              <a:t>E5 model card: https://huggingface.co/intfloat/multilingual-e5-small/raw/main/README.md</a:t>
            </a:r>
          </a:p>
          <a:p xmlns:a="http://schemas.openxmlformats.org/drawingml/2006/main">
            <a:r>
              <a:t>ONNX Runtime QNN: https://onnxruntime.ai/docs/execution-providers/QNN-ExecutionProvider.html</a:t>
            </a:r>
          </a:p>
          <a:p xmlns:a="http://schemas.openxmlformats.org/drawingml/2006/main">
            <a:r>
              <a:t>AI Hub compile: https://workbench.aihub.qualcomm.com/docs/hub/compile_examples.html</a:t>
            </a:r>
          </a:p>
          <a:p xmlns:a="http://schemas.openxmlformats.org/drawingml/2006/main">
            <a:r>
              <a:t>A ready-made Qualcomm E5 asset is not assumed. Smaller Qwen3-0.6B is a planned comparison. GenieX is a developer preview and QAIRT bundles require matching hardware.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Proposed metrics, not results. First use a Telugu smoke set, then target 300 prompt-answer cases per language for a later study. Two native-language annotators with adjudication. Evidence coverage = (supported + contradicted) / all assessed claims. Semantic distance = (1 - maximum cosine similarity to reviewed acceptable answers) / 2 is only a screening feature. Use categorical risk flags before sufficient calibration data exists. CPU/NPU comparison uses the same HP PC, power settings, fixed inputs and comparable artifacts. Five warm-ups and at least 30 timed runs per input-length group.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demonstration steps are planned. The first prototype must label fixtures and CPU-only execution honestly. Airplane/offline mode validates network independence after installation. Knowledge packs retain source licences, review metadata and version identifiers. No generated correction is silently accepted.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1. Qualcomm Qwen3-4B recipe</a:t>
            </a:r>
          </a:p>
          <a:p xmlns:a="http://schemas.openxmlformats.org/drawingml/2006/main">
            <a:r>
              <a:t>https://github.com/qualcomm/ai-hub-models/blob/v0.63.0/src/qai_hub_models/models/qwen3_4b_instruct_2507/README.md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GenieX runtime documentation</a:t>
            </a:r>
          </a:p>
          <a:p xmlns:a="http://schemas.openxmlformats.org/drawingml/2006/main">
            <a:r>
              <a:t>https://geniex.aihub.qualcomm.com/en/get-started/what-is-geniex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Multilingual E5 small model card</a:t>
            </a:r>
          </a:p>
          <a:p xmlns:a="http://schemas.openxmlformats.org/drawingml/2006/main">
            <a:r>
              <a:t>https://huggingface.co/intfloat/multilingual-e5-small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ONNX Runtime QNN execution provider</a:t>
            </a:r>
          </a:p>
          <a:p xmlns:a="http://schemas.openxmlformats.org/drawingml/2006/main">
            <a:r>
              <a:t>https://onnxruntime.ai/docs/execution-providers/QNN-ExecutionProvider.html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5. AI Hub compilation documentation</a:t>
            </a:r>
          </a:p>
          <a:p xmlns:a="http://schemas.openxmlformats.org/drawingml/2006/main">
            <a:r>
              <a:t>https://workbench.aihub.qualcomm.com/docs/hub/compile_examples.html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6. Unicode script properties</a:t>
            </a:r>
          </a:p>
          <a:p xmlns:a="http://schemas.openxmlformats.org/drawingml/2006/main">
            <a:r>
              <a:t>https://unicode.org/reports/tr24/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7. BHRAM-IL prior research</a:t>
            </a:r>
          </a:p>
          <a:p xmlns:a="http://schemas.openxmlformats.org/drawingml/2006/main">
            <a:r>
              <a:t>https://aclanthology.org/2025.bhasha-1.9/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8dfc06f9f84b7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a7bdf018ab3483f" /><Relationship Type="http://schemas.openxmlformats.org/officeDocument/2006/relationships/slideLayout" Target="/ppt/slideLayouts/slideLayout1.xml" Id="R99204cbf8fd5499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9204cbf8fd5499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d030d5291f4f5d" /><Relationship Type="http://schemas.openxmlformats.org/officeDocument/2006/relationships/notesSlide" Target="/ppt/notesSlides/notesSlide1.xml" Id="R61e5c7f19cd746e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5da3a42db24aad" /><Relationship Type="http://schemas.openxmlformats.org/officeDocument/2006/relationships/notesSlide" Target="/ppt/notesSlides/notesSlide2.xml" Id="R1ab1c2b8be1346d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b15048f4e44083" /><Relationship Type="http://schemas.openxmlformats.org/officeDocument/2006/relationships/notesSlide" Target="/ppt/notesSlides/notesSlide3.xml" Id="Rb54079c7b16c4f7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d54b0074324589" /><Relationship Type="http://schemas.openxmlformats.org/officeDocument/2006/relationships/notesSlide" Target="/ppt/notesSlides/notesSlide4.xml" Id="R89f9ead70af9443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289e969b3342b2" /><Relationship Type="http://schemas.openxmlformats.org/officeDocument/2006/relationships/notesSlide" Target="/ppt/notesSlides/notesSlide5.xml" Id="R01a46bf5d52a4ca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f3b6eec5ad4ec1" /><Relationship Type="http://schemas.openxmlformats.org/officeDocument/2006/relationships/notesSlide" Target="/ppt/notesSlides/notesSlide6.xml" Id="Ra33902981493484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e28b300a114a98" /><Relationship Type="http://schemas.openxmlformats.org/officeDocument/2006/relationships/notesSlide" Target="/ppt/notesSlides/notesSlide7.xml" Id="R64e84d79a1d2497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86D7D9-E611-43B4-AB63-CFFFB685D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C3D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72C3D"/>
                </a:solidFill>
                <a:latin typeface="DejaVu Sans"/>
                <a:ea typeface="DejaVu Sans"/>
                <a:cs typeface="DejaVu Sans"/>
              </a:rPr>
              <a:t>BhashaGuard Edge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42B45C-54CC-477E-A8ED-B31D95047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4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473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B17227-5591-49F3-BBAD-3305769CD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858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pPr>
            <a:r>
              <a:rPr sz="3225" b="0">
                <a:solidFill>
                  <a:srgbClr val="087E83"/>
                </a:solidFill>
                <a:latin typeface="DejaVu Sans"/>
                <a:ea typeface="DejaVu Sans"/>
                <a:cs typeface="DejaVu Sans"/>
              </a:rPr>
              <a:t>On-Device Cultural Hallucination Guard</a:t>
            </a:r>
          </a:p>
          <a:p xmlns:a="http://schemas.openxmlformats.org/drawingml/2006/main">
            <a:pPr>
              <a:defRPr sz="3225" b="0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pPr>
            <a:r>
              <a:rPr sz="3225" b="0">
                <a:solidFill>
                  <a:srgbClr val="087E83"/>
                </a:solidFill>
                <a:latin typeface="DejaVu Sans"/>
                <a:ea typeface="DejaVu Sans"/>
                <a:cs typeface="DejaVu Sans"/>
              </a:rPr>
              <a:t>for Indian-Language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8374C7-0B82-4724-B95C-605C46636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72C3D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172C3D"/>
                </a:solidFill>
                <a:latin typeface="DejaVu Sans"/>
                <a:ea typeface="DejaVu Sans"/>
                <a:cs typeface="DejaVu Sans"/>
              </a:rPr>
              <a:t>An offline review layer that checks AI responses against</a:t>
            </a:r>
          </a:p>
          <a:p xmlns:a="http://schemas.openxmlformats.org/drawingml/2006/main">
            <a:pPr>
              <a:defRPr sz="2325" b="0">
                <a:solidFill>
                  <a:srgbClr val="172C3D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172C3D"/>
                </a:solidFill>
                <a:latin typeface="DejaVu Sans"/>
                <a:ea typeface="DejaVu Sans"/>
                <a:cs typeface="DejaVu Sans"/>
              </a:rPr>
              <a:t>local evidence and explains what remains uncertain.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9488CA-222E-4C2E-A7D0-035930528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C3D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C3D"/>
                </a:solidFill>
                <a:latin typeface="DejaVu Sans"/>
                <a:ea typeface="DejaVu Sans"/>
                <a:cs typeface="DejaVu Sans"/>
              </a:rPr>
              <a:t>Snapdragon® AI Lab Build &amp; Present Challenge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8FBCF6-E2D9-4125-A098-BA8104544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4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473"/>
                </a:solidFill>
                <a:latin typeface="DejaVu Sans"/>
                <a:ea typeface="DejaVu Sans"/>
                <a:cs typeface="DejaVu Sans"/>
              </a:rPr>
              <a:t>Solution proposal. No measured accuracy or device-performance results claimed.</a:t>
            </a:r>
          </a:p>
        </p:txBody>
      </p:sp>
    </p:spTree>
    <p:extLst>
      <p:ext uri="{BB962C8B-B14F-4D97-AF65-F5344CB8AC3E}">
        <p14:creationId xmlns:p14="http://schemas.microsoft.com/office/powerpoint/2010/main" val="203848356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D05AB8-9EF1-4F2B-9464-AE4C53E80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C3D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72C3D"/>
                </a:solidFill>
                <a:latin typeface="DejaVu Sans"/>
                <a:ea typeface="DejaVu Sans"/>
                <a:cs typeface="DejaVu Sans"/>
              </a:rPr>
              <a:t>Problem and proposed contribution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5AFF9D-DB66-4890-96E5-CC34F9522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4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473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84EAA7-2163-4333-8CCC-E54C3652F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504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87E83"/>
                </a:solidFill>
                <a:latin typeface="DejaVu Sans"/>
                <a:ea typeface="DejaVu Sans"/>
                <a:cs typeface="DejaVu Sans"/>
              </a:rPr>
              <a:t>The review 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DDD54E-8F5B-41BD-BB97-FC5973D5D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5048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C3D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C3D"/>
                </a:solidFill>
                <a:latin typeface="DejaVu Sans"/>
                <a:ea typeface="DejaVu Sans"/>
                <a:cs typeface="DejaVu Sans"/>
              </a:rPr>
              <a:t>An answer can use the correct script while confusing a local practice, place or cultural context.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0AF48E-B1F1-492D-A665-84BA7B7C5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19250"/>
            <a:ext cx="504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87E83"/>
                </a:solidFill>
                <a:latin typeface="DejaVu Sans"/>
                <a:ea typeface="DejaVu Sans"/>
                <a:cs typeface="DejaVu Sans"/>
              </a:rPr>
              <a:t>First user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79BC23-D1C0-4D1F-BD61-7112BD4E8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43125"/>
            <a:ext cx="5048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C3D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C3D"/>
                </a:solidFill>
                <a:latin typeface="DejaVu Sans"/>
                <a:ea typeface="DejaVu Sans"/>
                <a:cs typeface="DejaVu Sans"/>
              </a:rPr>
              <a:t>A teacher reviewing an AI-written Telugu learning note before sharing it with students.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70D041-E0BF-4DD6-AB0A-EBBD6A793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504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87E83"/>
                </a:solidFill>
                <a:latin typeface="DejaVu Sans"/>
                <a:ea typeface="DejaVu Sans"/>
                <a:cs typeface="DejaVu Sans"/>
              </a:rPr>
              <a:t>The proposed guard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AA869D-AD95-4229-87ED-53A553DA9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5048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C3D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C3D"/>
                </a:solidFill>
                <a:latin typeface="DejaVu Sans"/>
                <a:ea typeface="DejaVu Sans"/>
                <a:cs typeface="DejaVu Sans"/>
              </a:rPr>
              <a:t>Highlight questionable claims and show the relevant source passages, with explicit abstention.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BB19C2-F03C-4C04-8495-790728DF1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14750"/>
            <a:ext cx="504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87E83"/>
                </a:solidFill>
                <a:latin typeface="DejaVu Sans"/>
                <a:ea typeface="DejaVu Sans"/>
                <a:cs typeface="DejaVu Sans"/>
              </a:rPr>
              <a:t>What distinguishes the design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A2D9CC-6688-4503-BA28-9DFB72EE5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38625"/>
            <a:ext cx="5048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C3D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C3D"/>
                </a:solidFill>
                <a:latin typeface="DejaVu Sans"/>
                <a:ea typeface="DejaVu Sans"/>
                <a:cs typeface="DejaVu Sans"/>
              </a:rPr>
              <a:t>Locale-qualified evidence and valid regional variants, supported by Dravidian-language evaluation.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926C6F-D797-4C34-8167-72FF3BE8F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473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526473"/>
                </a:solidFill>
                <a:latin typeface="DejaVu Sans"/>
                <a:ea typeface="DejaVu Sans"/>
                <a:cs typeface="DejaVu Sans"/>
              </a:rPr>
              <a:t>Initial scope: Telugu text. Tamil and Kannada follow native-speaker validation.</a:t>
            </a:r>
          </a:p>
        </p:txBody>
      </p:sp>
    </p:spTree>
    <p:extLst>
      <p:ext uri="{BB962C8B-B14F-4D97-AF65-F5344CB8AC3E}">
        <p14:creationId xmlns:p14="http://schemas.microsoft.com/office/powerpoint/2010/main" val="2150924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7" name=""/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 flipH="1">
            <a:off x="6096000" y="4219575"/>
            <a:ext cx="3990975" cy="8286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087E83"/>
            </a:solidFill>
            <a:tailEnd type="arrow" w="med" len="med"/>
          </a:ln>
        </p:spPr>
      </p:cxnSp>
      <p:cxnSp>
        <p:nvCxnSpPr>
          <p:cNvPr id="18" name=""/>
          <p:cNvCxnSpPr>
            <a:stCxn xmlns:a="http://schemas.openxmlformats.org/drawingml/2006/main" id="6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6086475" y="4219575"/>
            <a:ext cx="9525" cy="8286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087E83"/>
            </a:solidFill>
            <a:tailEnd type="arrow" w="med" len="med"/>
          </a:ln>
        </p:spPr>
      </p:cxnSp>
      <p:cxnSp>
        <p:nvCxnSpPr>
          <p:cNvPr id="19" name=""/>
          <p:cNvCxnSpPr>
            <a:stCxn xmlns:a="http://schemas.openxmlformats.org/drawingml/2006/main" id="5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2085975" y="4219575"/>
            <a:ext cx="4010025" cy="8286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087E83"/>
            </a:solidFill>
            <a:tailEnd type="arrow" w="med" len="med"/>
          </a:ln>
        </p:spPr>
      </p:cxnSp>
      <p:cxnSp>
        <p:nvCxnSpPr>
          <p:cNvPr id="20" name=""/>
          <p:cNvCxnSpPr>
            <a:stCxn xmlns:a="http://schemas.openxmlformats.org/drawingml/2006/main" id="4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6096000" y="2981325"/>
            <a:ext cx="3990975" cy="5905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087E83"/>
            </a:solidFill>
            <a:tailEnd type="arrow" w="med" len="med"/>
          </a:ln>
        </p:spPr>
      </p:cxnSp>
      <p:cxnSp>
        <p:nvCxnSpPr>
          <p:cNvPr id="21" name=""/>
          <p:cNvCxnSpPr>
            <a:stCxn xmlns:a="http://schemas.openxmlformats.org/drawingml/2006/main" id="4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 flipH="1">
            <a:off x="6086475" y="2981325"/>
            <a:ext cx="9525" cy="5905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087E83"/>
            </a:solidFill>
            <a:tailEnd type="arrow" w="med" len="med"/>
          </a:ln>
        </p:spPr>
      </p:cxnSp>
      <p:cxnSp>
        <p:nvCxnSpPr>
          <p:cNvPr id="22" name=""/>
          <p:cNvCxnSpPr>
            <a:stCxn xmlns:a="http://schemas.openxmlformats.org/drawingml/2006/main" id="4" idx="2"/>
            <a:endCxn xmlns:a="http://schemas.openxmlformats.org/drawingml/2006/main" id="5" idx="0"/>
          </p:cNvCxnSpPr>
          <p:nvPr/>
        </p:nvCxnSpPr>
        <p:spPr>
          <a:xfrm xmlns:a="http://schemas.openxmlformats.org/drawingml/2006/main" flipH="1">
            <a:off x="2085975" y="2981325"/>
            <a:ext cx="4010025" cy="5905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087E83"/>
            </a:solidFill>
            <a:tailEnd type="arrow" w="med" len="med"/>
          </a:ln>
        </p:spPr>
      </p:cxnSp>
      <p:cxnSp>
        <p:nvCxnSpPr>
          <p:cNvPr id="23" name=""/>
          <p:cNvCxnSpPr>
            <a:stCxn xmlns:a="http://schemas.openxmlformats.org/drawingml/2006/main" id="3" idx="2"/>
            <a:endCxn xmlns:a="http://schemas.openxmlformats.org/drawingml/2006/main" id="4" idx="0"/>
          </p:cNvCxnSpPr>
          <p:nvPr/>
        </p:nvCxnSpPr>
        <p:spPr>
          <a:xfrm xmlns:a="http://schemas.openxmlformats.org/drawingml/2006/main">
            <a:off x="6096000" y="2028825"/>
            <a:ext cx="0" cy="304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E83"/>
            </a:solidFill>
            <a:tailEnd type="arrow" w="med" len="me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158224-7274-4945-B3CD-BB4C6278C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C3D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72C3D"/>
                </a:solidFill>
                <a:latin typeface="DejaVu Sans"/>
                <a:ea typeface="DejaVu Sans"/>
                <a:cs typeface="DejaVu Sans"/>
              </a:rPr>
              <a:t>Local checking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2D077F-9E58-4164-9D54-DEA76523B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4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473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CFF1D6-2689-4248-9E9B-420C035AB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381125"/>
            <a:ext cx="4953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3"/>
          </a:solidFill>
          <a:ln xmlns:a="http://schemas.openxmlformats.org/drawingml/2006/main" w="9525">
            <a:solidFill>
              <a:srgbClr val="93B7BA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72C3D"/>
                </a:solidFill>
                <a:latin typeface="DejaVu Sans"/>
                <a:ea typeface="DejaVu Sans"/>
                <a:cs typeface="DejaVu Sans"/>
              </a:defRPr>
            </a:pPr>
            <a:r>
              <a:rPr sz="1800">
                <a:solidFill>
                  <a:srgbClr val="172C3D"/>
                </a:solidFill>
                <a:latin typeface="DejaVu Sans"/>
                <a:ea typeface="DejaVu Sans"/>
                <a:cs typeface="DejaVu Sans"/>
              </a:rPr>
              <a:t>Prompt, language and locale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7BBA8A-773A-4622-BC22-866DE61BE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333625"/>
            <a:ext cx="4953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3"/>
          </a:solidFill>
          <a:ln xmlns:a="http://schemas.openxmlformats.org/drawingml/2006/main" w="9525">
            <a:solidFill>
              <a:srgbClr val="93B7BA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72C3D"/>
                </a:solidFill>
                <a:latin typeface="DejaVu Sans"/>
                <a:ea typeface="DejaVu Sans"/>
                <a:cs typeface="DejaVu Sans"/>
              </a:defRPr>
            </a:pPr>
            <a:r>
              <a:rPr sz="1800">
                <a:solidFill>
                  <a:srgbClr val="172C3D"/>
                </a:solidFill>
                <a:latin typeface="DejaVu Sans"/>
                <a:ea typeface="DejaVu Sans"/>
                <a:cs typeface="DejaVu Sans"/>
              </a:rPr>
              <a:t>Local LLM or pasted answer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469D05-B349-48C1-9204-BA4B39EB9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2952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3"/>
          </a:solidFill>
          <a:ln xmlns:a="http://schemas.openxmlformats.org/drawingml/2006/main" w="9525">
            <a:solidFill>
              <a:srgbClr val="93B7BA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72C3D"/>
                </a:solidFill>
                <a:latin typeface="DejaVu Sans"/>
                <a:ea typeface="DejaVu Sans"/>
                <a:cs typeface="DejaVu Sans"/>
              </a:defRPr>
            </a:pPr>
            <a:r>
              <a:rPr sz="1800">
                <a:solidFill>
                  <a:srgbClr val="172C3D"/>
                </a:solidFill>
                <a:latin typeface="DejaVu Sans"/>
                <a:ea typeface="DejaVu Sans"/>
                <a:cs typeface="DejaVu Sans"/>
              </a:rPr>
              <a:t>Script fidelity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E19C7A-C56F-4D4F-B717-508AF9EE8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571875"/>
            <a:ext cx="34480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3"/>
          </a:solidFill>
          <a:ln xmlns:a="http://schemas.openxmlformats.org/drawingml/2006/main" w="9525">
            <a:solidFill>
              <a:srgbClr val="93B7BA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72C3D"/>
                </a:solidFill>
                <a:latin typeface="DejaVu Sans"/>
                <a:ea typeface="DejaVu Sans"/>
                <a:cs typeface="DejaVu Sans"/>
              </a:defRPr>
            </a:pPr>
            <a:r>
              <a:rPr sz="1800">
                <a:solidFill>
                  <a:srgbClr val="172C3D"/>
                </a:solidFill>
                <a:latin typeface="DejaVu Sans"/>
                <a:ea typeface="DejaVu Sans"/>
                <a:cs typeface="DejaVu Sans"/>
              </a:rPr>
              <a:t>Claim and evidence checks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F25016-F47B-4A2A-B100-10083132E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571875"/>
            <a:ext cx="2952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3"/>
          </a:solidFill>
          <a:ln xmlns:a="http://schemas.openxmlformats.org/drawingml/2006/main" w="9525">
            <a:solidFill>
              <a:srgbClr val="93B7BA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72C3D"/>
                </a:solidFill>
                <a:latin typeface="DejaVu Sans"/>
                <a:ea typeface="DejaVu Sans"/>
                <a:cs typeface="DejaVu Sans"/>
              </a:defRPr>
            </a:pPr>
            <a:r>
              <a:rPr sz="1800">
                <a:solidFill>
                  <a:srgbClr val="172C3D"/>
                </a:solidFill>
                <a:latin typeface="DejaVu Sans"/>
                <a:ea typeface="DejaVu Sans"/>
                <a:cs typeface="DejaVu Sans"/>
              </a:rPr>
              <a:t>Context and drift checks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B04313-F7CD-4162-8C54-43182DC6B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048250"/>
            <a:ext cx="6286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3"/>
          </a:solidFill>
          <a:ln xmlns:a="http://schemas.openxmlformats.org/drawingml/2006/main" w="9525">
            <a:solidFill>
              <a:srgbClr val="93B7BA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72C3D"/>
                </a:solidFill>
                <a:latin typeface="DejaVu Sans"/>
                <a:ea typeface="DejaVu Sans"/>
                <a:cs typeface="DejaVu Sans"/>
              </a:defRPr>
            </a:pPr>
            <a:r>
              <a:rPr sz="1800">
                <a:solidFill>
                  <a:srgbClr val="172C3D"/>
                </a:solidFill>
                <a:latin typeface="DejaVu Sans"/>
                <a:ea typeface="DejaVu Sans"/>
                <a:cs typeface="DejaVu Sans"/>
              </a:rPr>
              <a:t>Findings, cited evidence and unresolved claims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0BDDB1-A17E-4A98-B6AE-825C0F278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473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26473"/>
                </a:solidFill>
                <a:latin typeface="DejaVu Sans"/>
                <a:ea typeface="DejaVu Sans"/>
                <a:cs typeface="DejaVu Sans"/>
              </a:rPr>
              <a:t>Reviewed local evidence pack: sources, locale, date, licences and valid variants.</a:t>
            </a:r>
          </a:p>
        </p:txBody>
      </p:sp>
    </p:spTree>
    <p:extLst>
      <p:ext uri="{BB962C8B-B14F-4D97-AF65-F5344CB8AC3E}">
        <p14:creationId xmlns:p14="http://schemas.microsoft.com/office/powerpoint/2010/main" val="9540709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063FBD-12F8-4692-9B68-8F78CDCC7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C3D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72C3D"/>
                </a:solidFill>
                <a:latin typeface="DejaVu Sans"/>
                <a:ea typeface="DejaVu Sans"/>
                <a:cs typeface="DejaVu Sans"/>
              </a:rPr>
              <a:t>Snapdragon deployment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127A41-0293-46AA-9A3F-350F67334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4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473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9391A9-3CE2-4CB9-926B-C38E2D444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087E83"/>
                </a:solidFill>
                <a:latin typeface="DejaVu Sans"/>
                <a:ea typeface="DejaVu Sans"/>
                <a:cs typeface="DejaVu Sans"/>
              </a:rPr>
              <a:t>Target: Snapdragon-powered HP PC running Windows ARM64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2047875"/>
          <a:ext xmlns:a="http://schemas.openxmlformats.org/drawingml/2006/main" cx="10972800" cy="2809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3667125"/>
                <a:gridCol w="4638675"/>
              </a:tblGrid>
              <a:tr h="702469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Stage</a:t>
                      </a:r>
                    </a:p>
                  </a:txBody>
                  <a:tcPr marL="91440" marR="91440" marT="45720" marB="45720">
                    <a:solidFill>
                      <a:srgbClr val="DC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Candidate</a:t>
                      </a:r>
                    </a:p>
                  </a:txBody>
                  <a:tcPr marL="91440" marR="91440" marT="45720" marB="45720">
                    <a:solidFill>
                      <a:srgbClr val="DC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Execution plan</a:t>
                      </a:r>
                    </a:p>
                  </a:txBody>
                  <a:tcPr marL="91440" marR="91440" marT="45720" marB="45720">
                    <a:solidFill>
                      <a:srgbClr val="DCEDED"/>
                    </a:solidFill>
                  </a:tcPr>
                </a:tc>
              </a:tr>
              <a:tr h="702469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Generation / verification</a:t>
                      </a:r>
                    </a:p>
                  </a:txBody>
                  <a:tcPr marL="91440" marR="91440" marT="45720" marB="45720"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Qwen3-4B-Instruct-2507</a:t>
                      </a:r>
                    </a:p>
                  </a:txBody>
                  <a:tcPr marL="91440" marR="91440" marT="45720" marB="45720"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Matching QAIRT / GenieX bundle,</a:t>
                      </a:r>
                    </a:p>
                    <a:p>
                      <a:r>
                        <a:rPr sz="172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after exact-device validation</a:t>
                      </a:r>
                    </a:p>
                  </a:txBody>
                  <a:tcPr marL="91440" marR="91440" marT="45720" marB="45720">
                    <a:solidFill>
                      <a:srgbClr val="F3F7F8"/>
                    </a:solidFill>
                  </a:tcPr>
                </a:tc>
              </a:tr>
              <a:tr h="702469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Retrieval / drift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multilingual-e5-small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CPU baseline, then a proposed</a:t>
                      </a:r>
                    </a:p>
                    <a:p>
                      <a:r>
                        <a:rPr sz="172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custom ONNX / QNN port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2469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Script / evidence / UI</a:t>
                      </a:r>
                    </a:p>
                  </a:txBody>
                  <a:tcPr marL="91440" marR="91440" marT="45720" marB="45720"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Unicode, SQLite, local service</a:t>
                      </a:r>
                    </a:p>
                  </a:txBody>
                  <a:tcPr marL="91440" marR="91440" marT="45720" marB="45720"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CPU processing and local storage</a:t>
                      </a:r>
                    </a:p>
                  </a:txBody>
                  <a:tcPr marL="91440" marR="91440" marT="45720" marB="45720">
                    <a:solidFill>
                      <a:srgbClr val="F3F7F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EC1E13-C0E9-421C-B996-B50C8247A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C3D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72C3D"/>
                </a:solidFill>
                <a:latin typeface="DejaVu Sans"/>
                <a:ea typeface="DejaVu Sans"/>
                <a:cs typeface="DejaVu Sans"/>
              </a:rPr>
              <a:t>Validate language quality, quantization and HTP execution traces.</a:t>
            </a:r>
          </a:p>
          <a:p xmlns:a="http://schemas.openxmlformats.org/drawingml/2006/main">
            <a:pPr>
              <a:defRPr sz="1950" b="0">
                <a:solidFill>
                  <a:srgbClr val="172C3D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72C3D"/>
                </a:solidFill>
                <a:latin typeface="DejaVu Sans"/>
                <a:ea typeface="DejaVu Sans"/>
                <a:cs typeface="DejaVu Sans"/>
              </a:rPr>
              <a:t>Keep private drafts off remote profiling jobs and test offline operation.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C4E106-B006-4741-85B7-7290B1782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1095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473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26473"/>
                </a:solidFill>
                <a:latin typeface="DejaVu Sans"/>
                <a:ea typeface="DejaVu Sans"/>
                <a:cs typeface="DejaVu Sans"/>
              </a:rPr>
              <a:t>Model recipes exist. Exact HP-PC compatibility and NPU gains remain to be measured.</a:t>
            </a:r>
          </a:p>
        </p:txBody>
      </p:sp>
    </p:spTree>
    <p:extLst>
      <p:ext uri="{BB962C8B-B14F-4D97-AF65-F5344CB8AC3E}">
        <p14:creationId xmlns:p14="http://schemas.microsoft.com/office/powerpoint/2010/main" val="141465052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37B2EC-297B-46EB-A2EE-0E9A15C2E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C3D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72C3D"/>
                </a:solidFill>
                <a:latin typeface="DejaVu Sans"/>
                <a:ea typeface="DejaVu Sans"/>
                <a:cs typeface="DejaVu Sans"/>
              </a:rPr>
              <a:t>Evaluation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CFC143-5FB0-4CB3-BA6A-7FCF2655D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4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473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40ED20-0BB5-4132-A59C-50FA1AC93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504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87E83"/>
                </a:solidFill>
                <a:latin typeface="DejaVu Sans"/>
                <a:ea typeface="DejaVu Sans"/>
                <a:cs typeface="DejaVu Sans"/>
              </a:rPr>
              <a:t>Checking quality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78A8EC-A098-43A6-BCA1-1457BFCCD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5048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C3D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C3D"/>
                </a:solidFill>
                <a:latin typeface="DejaVu Sans"/>
                <a:ea typeface="DejaVu Sans"/>
                <a:cs typeface="DejaVu Sans"/>
              </a:rPr>
              <a:t>Native-speaker labels with adjudication. Hold out topics and source families to reduce leakage.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786817-F345-4C84-9C6C-52938B189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476375"/>
            <a:ext cx="504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87E83"/>
                </a:solidFill>
                <a:latin typeface="DejaVu Sans"/>
                <a:ea typeface="DejaVu Sans"/>
                <a:cs typeface="DejaVu Sans"/>
              </a:rPr>
              <a:t>Device performance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5830A7-7010-46D9-9287-26CF948A8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00250"/>
            <a:ext cx="5048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C3D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C3D"/>
                </a:solidFill>
                <a:latin typeface="DejaVu Sans"/>
                <a:ea typeface="DejaVu Sans"/>
                <a:cs typeface="DejaVu Sans"/>
              </a:rPr>
              <a:t>Measure median / p95 guard latency, peak memory, model size and equivalent CPU / NPU runs.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C33444-4A69-41B7-A2D2-5A3282181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504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87E83"/>
                </a:solidFill>
                <a:latin typeface="DejaVu Sans"/>
                <a:ea typeface="DejaVu Sans"/>
                <a:cs typeface="DejaVu Sans"/>
              </a:rPr>
              <a:t>Reported outcomes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4C31B6-2DF1-4F29-8BF4-7DF7938F9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5048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C3D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C3D"/>
                </a:solidFill>
                <a:latin typeface="DejaVu Sans"/>
                <a:ea typeface="DejaVu Sans"/>
                <a:cs typeface="DejaVu Sans"/>
              </a:rPr>
              <a:t>Macro-F1, valid-variant false alarms, retrieval recall, citation validity and abstention versus error.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002A8A-02BC-4133-8382-C3569DAA6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76625"/>
            <a:ext cx="504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87E83"/>
                </a:solidFill>
                <a:latin typeface="DejaVu Sans"/>
                <a:ea typeface="DejaVu Sans"/>
                <a:cs typeface="DejaVu Sans"/>
              </a:rPr>
              <a:t>Controls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8CF56A-7A61-45D5-A00A-E62BCEE0D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00500"/>
            <a:ext cx="5048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C3D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C3D"/>
                </a:solidFill>
                <a:latin typeface="DejaVu Sans"/>
                <a:ea typeface="DejaVu Sans"/>
                <a:cs typeface="DejaVu Sans"/>
              </a:rPr>
              <a:t>Compare script-only, retrieval-only and ungrounded judging with the full guard.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138ED7-EFA8-45D9-B820-E19FDA588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906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87E83"/>
                </a:solidFill>
                <a:latin typeface="DejaVu Sans"/>
                <a:ea typeface="DejaVu Sans"/>
                <a:cs typeface="DejaVu Sans"/>
              </a:rPr>
              <a:t>Script fidelity = target-script letters / assessed letters</a:t>
            </a:r>
          </a:p>
          <a:p xmlns:a="http://schemas.openxmlformats.org/drawingml/2006/main">
            <a:pPr>
              <a:defRPr sz="1800" b="0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87E83"/>
                </a:solidFill>
                <a:latin typeface="DejaVu Sans"/>
                <a:ea typeface="DejaVu Sans"/>
                <a:cs typeface="DejaVu Sans"/>
              </a:rPr>
              <a:t>Evidence consistency = supported / (supported + contradicted)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BC4F78-CFD9-4BA2-933F-B1796093F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473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26473"/>
                </a:solidFill>
                <a:latin typeface="DejaVu Sans"/>
                <a:ea typeface="DejaVu Sans"/>
                <a:cs typeface="DejaVu Sans"/>
              </a:rPr>
              <a:t>Report evidence coverage alongside consistency. Zero denominators return N/A.</a:t>
            </a:r>
          </a:p>
        </p:txBody>
      </p:sp>
    </p:spTree>
    <p:extLst>
      <p:ext uri="{BB962C8B-B14F-4D97-AF65-F5344CB8AC3E}">
        <p14:creationId xmlns:p14="http://schemas.microsoft.com/office/powerpoint/2010/main" val="206100898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AB54C6-0CF8-4209-925F-FBD567B2B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C3D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72C3D"/>
                </a:solidFill>
                <a:latin typeface="DejaVu Sans"/>
                <a:ea typeface="DejaVu Sans"/>
                <a:cs typeface="DejaVu Sans"/>
              </a:rPr>
              <a:t>Demonstration and delivery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4033E9-0F5A-450A-A68F-14832FC13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4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473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603D26-9190-4D74-89C0-340E3F128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087E83"/>
                </a:solidFill>
                <a:latin typeface="DejaVu Sans"/>
                <a:ea typeface="DejaVu Sans"/>
                <a:cs typeface="DejaVu Sans"/>
              </a:rPr>
              <a:t>Planned teacher workflow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19DBAC-A8DD-428A-96F4-9DF07B5E3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1081087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C3D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C3D"/>
                </a:solidFill>
                <a:latin typeface="DejaVu Sans"/>
                <a:ea typeface="DejaVu Sans"/>
                <a:cs typeface="DejaVu Sans"/>
              </a:rPr>
              <a:t>1. Select Telugu and a locale, then analyse a labelled test paragraph.</a:t>
            </a:r>
          </a:p>
          <a:p xmlns:a="http://schemas.openxmlformats.org/drawingml/2006/main">
            <a:pPr>
              <a:defRPr sz="2025" b="0">
                <a:solidFill>
                  <a:srgbClr val="172C3D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C3D"/>
                </a:solidFill>
                <a:latin typeface="DejaVu Sans"/>
                <a:ea typeface="DejaVu Sans"/>
                <a:cs typeface="DejaVu Sans"/>
              </a:rPr>
              <a:t>2. Inspect a script error, a contradiction and an unresolved claim.</a:t>
            </a:r>
          </a:p>
          <a:p xmlns:a="http://schemas.openxmlformats.org/drawingml/2006/main">
            <a:pPr>
              <a:defRPr sz="2025" b="0">
                <a:solidFill>
                  <a:srgbClr val="172C3D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C3D"/>
                </a:solidFill>
                <a:latin typeface="DejaVu Sans"/>
                <a:ea typeface="DejaVu Sans"/>
                <a:cs typeface="DejaVu Sans"/>
              </a:rPr>
              <a:t>3. Open cited evidence and check a valid regional-variant example.</a:t>
            </a:r>
          </a:p>
          <a:p xmlns:a="http://schemas.openxmlformats.org/drawingml/2006/main">
            <a:pPr>
              <a:defRPr sz="2025" b="0">
                <a:solidFill>
                  <a:srgbClr val="172C3D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C3D"/>
                </a:solidFill>
                <a:latin typeface="DejaVu Sans"/>
                <a:ea typeface="DejaVu Sans"/>
                <a:cs typeface="DejaVu Sans"/>
              </a:rPr>
              <a:t>4. Export the report with actual backend details and runtime timings.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E18F05-0FF1-44FC-91F1-506229131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087E83"/>
                </a:solidFill>
                <a:latin typeface="DejaVu Sans"/>
                <a:ea typeface="DejaVu Sans"/>
                <a:cs typeface="DejaVu Sans"/>
              </a:rPr>
              <a:t>Build sequence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7826E3-8804-429A-95AE-9C3BEA41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76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C3D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C3D"/>
                </a:solidFill>
                <a:latin typeface="DejaVu Sans"/>
                <a:ea typeface="DejaVu Sans"/>
                <a:cs typeface="DejaVu Sans"/>
              </a:rPr>
              <a:t>Telugu CPU prototype, followed by validated Snapdragon inference.</a:t>
            </a:r>
          </a:p>
          <a:p xmlns:a="http://schemas.openxmlformats.org/drawingml/2006/main">
            <a:pPr>
              <a:defRPr sz="2025" b="0">
                <a:solidFill>
                  <a:srgbClr val="172C3D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C3D"/>
                </a:solidFill>
                <a:latin typeface="DejaVu Sans"/>
                <a:ea typeface="DejaVu Sans"/>
                <a:cs typeface="DejaVu Sans"/>
              </a:rPr>
              <a:t>Extend to Tamil and Kannada after language-specific evaluation.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97AA2E-8777-4D75-93A9-B10D5D1C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473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26473"/>
                </a:solidFill>
                <a:latin typeface="DejaVu Sans"/>
                <a:ea typeface="DejaVu Sans"/>
                <a:cs typeface="DejaVu Sans"/>
              </a:rPr>
              <a:t>Limits: incomplete evidence and verifier errors require abstention and human review.</a:t>
            </a:r>
          </a:p>
        </p:txBody>
      </p:sp>
    </p:spTree>
    <p:extLst>
      <p:ext uri="{BB962C8B-B14F-4D97-AF65-F5344CB8AC3E}">
        <p14:creationId xmlns:p14="http://schemas.microsoft.com/office/powerpoint/2010/main" val="5558485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52B262-2133-4EC9-871F-BA66F82F0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C3D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72C3D"/>
                </a:solidFill>
                <a:latin typeface="DejaVu Sans"/>
                <a:ea typeface="DejaVu Sans"/>
                <a:cs typeface="DejaVu Sans"/>
              </a:rPr>
              <a:t>Technical references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503243-A664-4C39-97F2-5E208B9DF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4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473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9A2315-2B2A-4CCB-94D6-F4764DE4A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87E83"/>
                </a:solidFill>
                <a:latin typeface="DejaVu Sans"/>
                <a:ea typeface="DejaVu Sans"/>
                <a:cs typeface="DejaVu Sans"/>
              </a:rPr>
              <a:t>1. Qualcomm Qwen3-4B recipe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5C4F0D-A1B6-4541-93C0-382822237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C3D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2C3D"/>
                </a:solidFill>
                <a:latin typeface="DejaVu Sans"/>
                <a:ea typeface="DejaVu Sans"/>
                <a:cs typeface="DejaVu Sans"/>
              </a:rPr>
              <a:t>2. GenieX runtime documentation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10B6A0-496F-45A7-9639-0844A8030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C3D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2C3D"/>
                </a:solidFill>
                <a:latin typeface="DejaVu Sans"/>
                <a:ea typeface="DejaVu Sans"/>
                <a:cs typeface="DejaVu Sans"/>
              </a:rPr>
              <a:t>3. Multilingual E5 small model card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335BE6-42D4-4EBF-9C95-04AB605B1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C3D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2C3D"/>
                </a:solidFill>
                <a:latin typeface="DejaVu Sans"/>
                <a:ea typeface="DejaVu Sans"/>
                <a:cs typeface="DejaVu Sans"/>
              </a:rPr>
              <a:t>4. ONNX Runtime QNN execution provider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BA7386-36EC-4546-A2E6-27C4D5A72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C3D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2C3D"/>
                </a:solidFill>
                <a:latin typeface="DejaVu Sans"/>
                <a:ea typeface="DejaVu Sans"/>
                <a:cs typeface="DejaVu Sans"/>
              </a:rPr>
              <a:t>5. AI Hub compilation documentation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4DB92A-148B-4098-B79A-F175B626E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C3D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2C3D"/>
                </a:solidFill>
                <a:latin typeface="DejaVu Sans"/>
                <a:ea typeface="DejaVu Sans"/>
                <a:cs typeface="DejaVu Sans"/>
              </a:rPr>
              <a:t>6. Unicode script properties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5FCBC0-D9C1-47EC-BE38-A275E869D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863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C3D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2C3D"/>
                </a:solidFill>
                <a:latin typeface="DejaVu Sans"/>
                <a:ea typeface="DejaVu Sans"/>
                <a:cs typeface="DejaVu Sans"/>
              </a:rPr>
              <a:t>7. BHRAM-IL prior research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AD2AB5-36A3-4CA6-8F1F-C6C1589A6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810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473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526473"/>
                </a:solidFill>
                <a:latin typeface="DejaVu Sans"/>
                <a:ea typeface="DejaVu Sans"/>
                <a:cs typeface="DejaVu Sans"/>
              </a:rPr>
              <a:t>Source URLs are included in speaker notes and in the companion project description.</a:t>
            </a:r>
          </a:p>
        </p:txBody>
      </p:sp>
    </p:spTree>
    <p:extLst>
      <p:ext uri="{BB962C8B-B14F-4D97-AF65-F5344CB8AC3E}">
        <p14:creationId xmlns:p14="http://schemas.microsoft.com/office/powerpoint/2010/main" val="10074110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2026-09-30T05:52:48.3770000Z</dcterms:created>
  <dcterms:modified xsi:type="dcterms:W3CDTF">2026-09-30T05:52:48.3770000Z</dcterms:modified>
</coreProperties>
</file>